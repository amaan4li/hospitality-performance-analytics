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Geist Mono" panose="020B0604020202020204" charset="0"/>
      <p:regular r:id="rId15"/>
    </p:embeddedFont>
    <p:embeddedFont>
      <p:font typeface="Geist Mono Medium" panose="020B0604020202020204" charset="0"/>
      <p:regular r:id="rId16"/>
    </p:embeddedFont>
    <p:embeddedFont>
      <p:font typeface="Geist Mono SemiBold" panose="020B0604020202020204" charset="0"/>
      <p:regular r:id="rId17"/>
    </p:embeddedFont>
    <p:embeddedFont>
      <p:font typeface="IBM Plex Sans" panose="020B0503050203000203" pitchFamily="34" charset="0"/>
      <p:regular r:id="rId18"/>
      <p:bold r:id="rId19"/>
    </p:embeddedFont>
    <p:embeddedFont>
      <p:font typeface="IBM Plex Sans Bold" panose="020B0803050203000203" charset="0"/>
      <p:regular r:id="rId20"/>
    </p:embeddedFont>
    <p:embeddedFont>
      <p:font typeface="IBM Plex Sans SemiBold" panose="020B0703050203000203" pitchFamily="34" charset="0"/>
      <p:bold r:id="rId21"/>
    </p:embeddedFont>
    <p:embeddedFont>
      <p:font typeface="Roboto Condensed Bold" panose="020B0604020202020204" charset="0"/>
      <p:regular r:id="rId22"/>
    </p:embeddedFont>
    <p:embeddedFont>
      <p:font typeface="Roboto Condensed Extra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0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431800"/>
            <a:ext cx="6638560" cy="6252270"/>
          </a:xfrm>
          <a:prstGeom prst="roundRect">
            <a:avLst>
              <a:gd name="adj" fmla="val 503"/>
            </a:avLst>
          </a:prstGeom>
          <a:solidFill>
            <a:srgbClr val="0A0B0D">
              <a:alpha val="8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812959"/>
            <a:ext cx="63845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ATLIQ GRANDS · PERFORMANCE BRIEF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5176" y="1212064"/>
            <a:ext cx="5490488" cy="374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ATLIQ GRANDS: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STRATEGIC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PERFORMANCE</a:t>
            </a:r>
            <a:endParaRPr lang="en-US" sz="7200" dirty="0"/>
          </a:p>
          <a:p>
            <a:pPr marL="0" indent="0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ANALYTICS </a:t>
            </a:r>
            <a:r>
              <a:rPr lang="en-US" sz="43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📊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965176" y="4610729"/>
            <a:ext cx="5774982" cy="1815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spcAft>
                <a:spcPts val="125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Data-driven insights for revenue optimization in India’s luxury and business hotel segment.</a:t>
            </a:r>
            <a:endParaRPr lang="en-US" sz="1650" dirty="0"/>
          </a:p>
          <a:p>
            <a:pPr>
              <a:lnSpc>
                <a:spcPct val="100000"/>
              </a:lnSpc>
              <a:spcAft>
                <a:spcPts val="1250"/>
              </a:spcAft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Domain : Hospitality</a:t>
            </a:r>
          </a:p>
          <a:p>
            <a:pPr>
              <a:lnSpc>
                <a:spcPct val="100000"/>
              </a:lnSpc>
              <a:spcAft>
                <a:spcPts val="1250"/>
              </a:spcAft>
            </a:pPr>
            <a:endParaRPr lang="en-US" sz="16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Developed by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Mohd Amaan Ali </a:t>
            </a:r>
            <a:endParaRPr lang="en-US" sz="16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BE05D-1184-29CE-DFD8-F13302FEE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21956">
            <a:off x="9830937" y="956564"/>
            <a:ext cx="1072503" cy="1049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312700-7AA0-6F80-6FC9-3C0A48944558}"/>
              </a:ext>
            </a:extLst>
          </p:cNvPr>
          <p:cNvSpPr txBox="1"/>
          <p:nvPr/>
        </p:nvSpPr>
        <p:spPr>
          <a:xfrm rot="21362484">
            <a:off x="9724352" y="2113308"/>
            <a:ext cx="145185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ATLIQ GRANDS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381159"/>
            <a:ext cx="68832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3F5F7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BUSINESS CHALLENGE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1789" y="696218"/>
            <a:ext cx="6451439" cy="19685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REVENUE AND MARKET SHARE ARE UNDER PRESSURE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789" y="3645694"/>
            <a:ext cx="6451439" cy="95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F3F5F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FOOTPRINT</a:t>
            </a:r>
            <a:endParaRPr lang="en-US" sz="16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AtliQ Grands operates five-star hotels across Bangalore, Mumbai, Hyderabad and Delhi ( India 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31789" y="4907062"/>
            <a:ext cx="6451439" cy="95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F3F5F7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PROBLEM</a:t>
            </a:r>
            <a:endParaRPr lang="en-US" sz="16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company is losing revenue and market share in the luxury and business hotel segment.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1789" y="4748312"/>
            <a:ext cx="6451439" cy="12700"/>
          </a:xfrm>
          <a:prstGeom prst="rect">
            <a:avLst/>
          </a:prstGeom>
          <a:solidFill>
            <a:srgbClr val="3B4048"/>
          </a:solidFill>
          <a:ln/>
        </p:spPr>
      </p:sp>
      <p:sp>
        <p:nvSpPr>
          <p:cNvPr id="10" name="Shape 7"/>
          <p:cNvSpPr/>
          <p:nvPr/>
        </p:nvSpPr>
        <p:spPr>
          <a:xfrm>
            <a:off x="7302317" y="0"/>
            <a:ext cx="25399" cy="6858000"/>
          </a:xfrm>
          <a:prstGeom prst="rect">
            <a:avLst/>
          </a:prstGeom>
          <a:solidFill>
            <a:srgbClr val="3B4048"/>
          </a:solidFill>
          <a:ln/>
        </p:spPr>
      </p:sp>
      <p:sp>
        <p:nvSpPr>
          <p:cNvPr id="11" name="Text 8"/>
          <p:cNvSpPr/>
          <p:nvPr/>
        </p:nvSpPr>
        <p:spPr>
          <a:xfrm>
            <a:off x="457189" y="6535142"/>
            <a:ext cx="79125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5E7A385-43EF-E614-8CB8-3B2C39623A2E}"/>
              </a:ext>
            </a:extLst>
          </p:cNvPr>
          <p:cNvSpPr/>
          <p:nvPr/>
        </p:nvSpPr>
        <p:spPr>
          <a:xfrm>
            <a:off x="609585" y="660400"/>
            <a:ext cx="6349841" cy="5461000"/>
          </a:xfrm>
          <a:prstGeom prst="roundRect">
            <a:avLst>
              <a:gd name="adj" fmla="val 576"/>
            </a:avLst>
          </a:prstGeom>
          <a:solidFill>
            <a:srgbClr val="0A0B0D">
              <a:alpha val="86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665FF-B74D-6E77-F8A9-0F483ED13AE7}"/>
              </a:ext>
            </a:extLst>
          </p:cNvPr>
          <p:cNvSpPr txBox="1"/>
          <p:nvPr/>
        </p:nvSpPr>
        <p:spPr>
          <a:xfrm>
            <a:off x="737267" y="1739266"/>
            <a:ext cx="6094476" cy="3674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sz="40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Analyze revenue data for </a:t>
            </a:r>
            <a:r>
              <a:rPr lang="en-US" sz="4000" kern="100" spc="-72" dirty="0" err="1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AtliQ</a:t>
            </a:r>
            <a:r>
              <a:rPr lang="en-US" sz="40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 Grands Hotels</a:t>
            </a:r>
            <a:endParaRPr lang="en-US" sz="4000" dirty="0"/>
          </a:p>
          <a:p>
            <a:pPr marL="342900" indent="-342900" algn="l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sz="40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Identify Key trends , opportunities &amp; challenges</a:t>
            </a:r>
            <a:endParaRPr lang="en-US" sz="4000" dirty="0"/>
          </a:p>
          <a:p>
            <a:pPr marL="342900" indent="-342900" algn="l">
              <a:lnSpc>
                <a:spcPct val="83000"/>
              </a:lnSpc>
              <a:buFont typeface="Arial" panose="020B0604020202020204" pitchFamily="34" charset="0"/>
              <a:buChar char="•"/>
            </a:pPr>
            <a:r>
              <a:rPr lang="en-US" sz="40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Develop Data – driven strategies to reclaim market share.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6DA77-59DB-0042-C55B-142A7116C68E}"/>
              </a:ext>
            </a:extLst>
          </p:cNvPr>
          <p:cNvSpPr txBox="1"/>
          <p:nvPr/>
        </p:nvSpPr>
        <p:spPr>
          <a:xfrm>
            <a:off x="737267" y="736600"/>
            <a:ext cx="1570482" cy="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Project Goal</a:t>
            </a:r>
            <a:endParaRPr lang="en-US" sz="11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F1879-3D6C-1DD5-874D-13DF91C31E4D}"/>
              </a:ext>
            </a:extLst>
          </p:cNvPr>
          <p:cNvSpPr txBox="1"/>
          <p:nvPr/>
        </p:nvSpPr>
        <p:spPr>
          <a:xfrm>
            <a:off x="331470" y="6456473"/>
            <a:ext cx="6094476" cy="272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03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42D0CA-6A51-6FB6-A4A7-804EAB29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2"/>
          <a:stretch>
            <a:fillRect/>
          </a:stretch>
        </p:blipFill>
        <p:spPr>
          <a:xfrm>
            <a:off x="9004373" y="736600"/>
            <a:ext cx="2450360" cy="514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30359"/>
            <a:ext cx="1181070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3F5F7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ANALYTIC FRAME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80990" y="645418"/>
            <a:ext cx="11429714" cy="13589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THE ANALYSIS CONNECTS GUEST BEHAVIOR TO HOTEL PERFORMANCE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4733" y="3429000"/>
            <a:ext cx="4876678" cy="342900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6" name="Text 4"/>
          <p:cNvSpPr/>
          <p:nvPr/>
        </p:nvSpPr>
        <p:spPr>
          <a:xfrm>
            <a:off x="330192" y="3733800"/>
            <a:ext cx="4216295" cy="2027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250"/>
              </a:spcAft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Three months ( May to July 2026 ) of booking data across AtliQ hotels.</a:t>
            </a:r>
            <a:endParaRPr lang="en-US" sz="1650" dirty="0"/>
          </a:p>
          <a:p>
            <a:pPr marL="0" indent="0" algn="l">
              <a:lnSpc>
                <a:spcPct val="113000"/>
              </a:lnSpc>
              <a:spcAft>
                <a:spcPts val="1250"/>
              </a:spcAft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Five source tables: dates, hotels, rooms, aggregated bookings, and bookings.</a:t>
            </a:r>
            <a:endParaRPr lang="en-US" sz="16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Supporting metric definitions and a mock dashboard.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470" y="3929757"/>
            <a:ext cx="6705432" cy="24273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1054" y="4305678"/>
            <a:ext cx="4137125" cy="19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SOURCE TABLES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71054" y="5043272"/>
            <a:ext cx="4137125" cy="19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GUEST BEHAVIOR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71054" y="5774160"/>
            <a:ext cx="4137125" cy="19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PERFORMANCE DECISIONS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80990" y="6535142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04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CCC826-4D8A-CA98-BA40-9DA04F212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143" y="3480168"/>
            <a:ext cx="7271123" cy="3368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8928F-79DE-FEE4-E55E-DF0197C4C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28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E28CB3-E83A-1AC5-E5AC-1596FDD35A3C}"/>
              </a:ext>
            </a:extLst>
          </p:cNvPr>
          <p:cNvSpPr txBox="1"/>
          <p:nvPr/>
        </p:nvSpPr>
        <p:spPr>
          <a:xfrm>
            <a:off x="249174" y="6528816"/>
            <a:ext cx="8023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85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355759"/>
            <a:ext cx="33273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92" dirty="0">
                <a:solidFill>
                  <a:srgbClr val="F3F5F7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0191" y="1370548"/>
            <a:ext cx="2997125" cy="37973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LUXURY HOTELS CARRY THE LARGEST REVENUE SHARE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30192" y="5845294"/>
            <a:ext cx="2997125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Luxury contributes the highest revenue share versus Business.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063898" y="355759"/>
            <a:ext cx="812779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REVENUE SHARE BY HOTEL 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63898" y="710505"/>
            <a:ext cx="3708307" cy="2232323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8" name="Text 6"/>
          <p:cNvSpPr/>
          <p:nvPr/>
        </p:nvSpPr>
        <p:spPr>
          <a:xfrm>
            <a:off x="4343291" y="1102618"/>
            <a:ext cx="314952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0A0B0D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HIGHEST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343291" y="1852287"/>
            <a:ext cx="314952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Luxury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343291" y="2339995"/>
            <a:ext cx="3428914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Largest revenue share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76998" y="710505"/>
            <a:ext cx="3708307" cy="2232323"/>
          </a:xfrm>
          <a:prstGeom prst="roundRect">
            <a:avLst>
              <a:gd name="adj" fmla="val 512"/>
            </a:avLst>
          </a:prstGeom>
          <a:noFill/>
          <a:ln w="25399">
            <a:solidFill>
              <a:srgbClr val="4243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1790" y="1102618"/>
            <a:ext cx="30987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LOWER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381790" y="1852287"/>
            <a:ext cx="309872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Business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81790" y="2339995"/>
            <a:ext cx="3403515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Lower revenue share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063898" y="3178413"/>
            <a:ext cx="812779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6" dirty="0">
                <a:solidFill>
                  <a:srgbClr val="8B929C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FIRST EVIDENCE POINT · REVENUE IS CONCENTRATED IN LUXURY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191" y="6629400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355759"/>
            <a:ext cx="454648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3F5F7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DEMAND × PRICING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30192" y="670818"/>
            <a:ext cx="4216295" cy="31877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WEEKEND DEMAND IS STRONGER, BUT PRICING IS NOT FOLLOWING IT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30192" y="5587821"/>
            <a:ext cx="4216295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ADR stays relatively stable while occupancy fluctuates, signaling room to align pricing with demand.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57668" y="355759"/>
            <a:ext cx="693402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WEEKDAY VERSUS WEEKEND DEMAND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668" y="710505"/>
          <a:ext cx="6553035" cy="1610081"/>
        </p:xfrm>
        <a:graphic>
          <a:graphicData uri="http://schemas.openxmlformats.org/drawingml/2006/table">
            <a:tbl>
              <a:tblPr/>
              <a:tblGrid>
                <a:gridCol w="183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0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PERIOD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0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OCCUPANCY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0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REVPAR UPLIFT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Weekday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55.8%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3F5F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Baseline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B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Weekend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62.6%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0"/>
                        </a:rPr>
                        <a:t>Approximately ₹900 higher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14297" marR="114297" marT="126997" marB="126997" anchor="ctr">
                    <a:lnL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D4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257668" y="2574627"/>
            <a:ext cx="3124122" cy="2290366"/>
          </a:xfrm>
          <a:prstGeom prst="roundRect">
            <a:avLst>
              <a:gd name="adj" fmla="val 499"/>
            </a:avLst>
          </a:prstGeom>
          <a:noFill/>
          <a:ln w="25399">
            <a:solidFill>
              <a:srgbClr val="4243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7061" y="2835612"/>
            <a:ext cx="284472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6" dirty="0">
                <a:solidFill>
                  <a:srgbClr val="8B929C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OCCUPANCY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7061" y="3237210"/>
            <a:ext cx="256533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+6.8 PTS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5537061" y="4055487"/>
            <a:ext cx="2565336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Weekend demand is stronger.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686583" y="2574627"/>
            <a:ext cx="3124122" cy="2290366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13" name="Text 10"/>
          <p:cNvSpPr/>
          <p:nvPr/>
        </p:nvSpPr>
        <p:spPr>
          <a:xfrm>
            <a:off x="8940576" y="2810212"/>
            <a:ext cx="287012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6" dirty="0">
                <a:solidFill>
                  <a:srgbClr val="F3F5F7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PRICING SIGNAL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40576" y="3167729"/>
            <a:ext cx="261613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ADR stays relatively stable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940576" y="4017387"/>
            <a:ext cx="2616135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Price should follow demand.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330192" y="6636916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1679932"/>
            <a:ext cx="728961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REVENUE LEAKAGE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31789" y="2054466"/>
            <a:ext cx="6857828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600" kern="100" spc="-96" dirty="0">
                <a:solidFill>
                  <a:srgbClr val="E23A32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24.8%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31789" y="3379291"/>
            <a:ext cx="6857828" cy="13589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OF BOOKINGS ARE CANCELLED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789" y="4880193"/>
            <a:ext cx="7289618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That is nearly 1 in every 4 bookings.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23A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76998" y="431959"/>
            <a:ext cx="411469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0A0B0D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RECOVERY MOVES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76998" y="712462"/>
            <a:ext cx="375910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Clearer cancellation policies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76998" y="1639562"/>
            <a:ext cx="375910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Incentives for confirmed bookings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076998" y="6153567"/>
            <a:ext cx="411469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b="1" dirty="0">
                <a:solidFill>
                  <a:srgbClr val="0A0B0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REDUCE LEAKAGE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1789" y="6581077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3749576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355759"/>
            <a:ext cx="693402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3F5F7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CITY × PROPERTY BENCHMARK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80990" y="670818"/>
            <a:ext cx="6553036" cy="19685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MUMBAI LEADS, WITH ATLIQ EXOTICA AS THE BENCHMARK PROPERTY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0990" y="2762270"/>
            <a:ext cx="6553036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Mumbai is the highest-performing city in the analysis. Use the strongest property as the source of practices to replicate.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4876678" cy="3749576"/>
          </a:xfrm>
          <a:prstGeom prst="rect">
            <a:avLst/>
          </a:prstGeom>
          <a:solidFill>
            <a:srgbClr val="15181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37495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9393" y="4143435"/>
            <a:ext cx="581645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CITY SIGNAL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79393" y="4468019"/>
            <a:ext cx="553706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MUMBAI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279393" y="5286296"/>
            <a:ext cx="5816454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Highest-performing city in the analysis.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095848" y="3914676"/>
            <a:ext cx="6095848" cy="1872853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12" name="Text 9"/>
          <p:cNvSpPr/>
          <p:nvPr/>
        </p:nvSpPr>
        <p:spPr>
          <a:xfrm>
            <a:off x="6375241" y="4143435"/>
            <a:ext cx="581645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0A0B0D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PROPERTY BENCHMARK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75241" y="4468019"/>
            <a:ext cx="553706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0A0B0D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$212M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6375241" y="5286296"/>
            <a:ext cx="5816454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AtliQ Exotica · 4.3 rating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302317" y="0"/>
            <a:ext cx="25399" cy="3749576"/>
          </a:xfrm>
          <a:prstGeom prst="rect">
            <a:avLst/>
          </a:prstGeom>
          <a:solidFill>
            <a:srgbClr val="3B4048"/>
          </a:solidFill>
          <a:ln/>
        </p:spPr>
      </p:sp>
      <p:sp>
        <p:nvSpPr>
          <p:cNvPr id="16" name="Shape 13"/>
          <p:cNvSpPr/>
          <p:nvPr/>
        </p:nvSpPr>
        <p:spPr>
          <a:xfrm>
            <a:off x="6089498" y="3914676"/>
            <a:ext cx="12700" cy="1872853"/>
          </a:xfrm>
          <a:prstGeom prst="rect">
            <a:avLst/>
          </a:prstGeom>
          <a:solidFill>
            <a:srgbClr val="3B4048"/>
          </a:solidFill>
          <a:ln/>
        </p:spPr>
      </p:sp>
      <p:sp>
        <p:nvSpPr>
          <p:cNvPr id="17" name="Text 14"/>
          <p:cNvSpPr/>
          <p:nvPr/>
        </p:nvSpPr>
        <p:spPr>
          <a:xfrm>
            <a:off x="380990" y="6502241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55759"/>
            <a:ext cx="1181070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UPSIDE IDENTIFIED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380990" y="670818"/>
            <a:ext cx="11429714" cy="13589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GUEST SATISFACTION AND CHANNEL MIX STILL LEAVE UPSIDE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0990" y="2205930"/>
            <a:ext cx="5714857" cy="2236093"/>
          </a:xfrm>
          <a:custGeom>
            <a:avLst/>
            <a:gdLst/>
            <a:ahLst/>
            <a:cxnLst/>
            <a:rect l="l" t="t" r="r" b="b"/>
            <a:pathLst>
              <a:path w="5714857" h="2236093">
                <a:moveTo>
                  <a:pt x="9525" y="0"/>
                </a:moveTo>
                <a:lnTo>
                  <a:pt x="5714857" y="0"/>
                </a:lnTo>
                <a:lnTo>
                  <a:pt x="5714857" y="2236093"/>
                </a:lnTo>
                <a:lnTo>
                  <a:pt x="9525" y="2236093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5181C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466915"/>
            <a:ext cx="543546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6" dirty="0">
                <a:solidFill>
                  <a:srgbClr val="F3F5F7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AVERAGE GUEST RATING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0383" y="2889060"/>
            <a:ext cx="515607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3.6 / 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60383" y="3915390"/>
            <a:ext cx="5435464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Below the 4.0 target.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75241" y="2466915"/>
            <a:ext cx="543546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6" dirty="0">
                <a:solidFill>
                  <a:srgbClr val="8B929C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TARGET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75241" y="2889060"/>
            <a:ext cx="515607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E23A32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−0.4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375241" y="3915390"/>
            <a:ext cx="5435464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Focus service improvements on properties below 4.0.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80990" y="4670623"/>
            <a:ext cx="5562461" cy="1860153"/>
          </a:xfrm>
          <a:prstGeom prst="roundRect">
            <a:avLst>
              <a:gd name="adj" fmla="val 614"/>
            </a:avLst>
          </a:prstGeom>
          <a:noFill/>
          <a:ln w="25399">
            <a:solidFill>
              <a:srgbClr val="4243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84" y="4899382"/>
            <a:ext cx="53084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SERVICE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4984" y="5179886"/>
            <a:ext cx="5054474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Improve properties below 4.0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248244" y="4670623"/>
            <a:ext cx="5562461" cy="1860153"/>
          </a:xfrm>
          <a:prstGeom prst="roundRect">
            <a:avLst>
              <a:gd name="adj" fmla="val 614"/>
            </a:avLst>
          </a:prstGeom>
          <a:noFill/>
          <a:ln w="25399">
            <a:solidFill>
              <a:srgbClr val="4243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2237" y="4899382"/>
            <a:ext cx="53084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CHANNELS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02237" y="5179886"/>
            <a:ext cx="505447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Invest where ADR and realization are stronger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502237" y="6029543"/>
            <a:ext cx="5308467" cy="282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Reduce dependency on weaker channels.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89498" y="2205930"/>
            <a:ext cx="12700" cy="2236093"/>
          </a:xfrm>
          <a:prstGeom prst="rect">
            <a:avLst/>
          </a:prstGeom>
          <a:solidFill>
            <a:srgbClr val="3B4048"/>
          </a:solidFill>
          <a:ln/>
        </p:spPr>
      </p:sp>
      <p:sp>
        <p:nvSpPr>
          <p:cNvPr id="19" name="Text 17"/>
          <p:cNvSpPr/>
          <p:nvPr/>
        </p:nvSpPr>
        <p:spPr>
          <a:xfrm>
            <a:off x="380990" y="6591108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0" y="355759"/>
            <a:ext cx="1181070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RECOVERY FRAMEWORK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380990" y="670818"/>
            <a:ext cx="11429714" cy="13589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800" b="1" dirty="0">
                <a:solidFill>
                  <a:srgbClr val="F3F5F7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0"/>
              </a:rPr>
              <a:t>FIVE MOVES CAN HELP RECLAIM MARKET SHARE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80990" y="220593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380990" y="2499320"/>
            <a:ext cx="2042069" cy="1905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6" name="Text 4"/>
          <p:cNvSpPr/>
          <p:nvPr/>
        </p:nvSpPr>
        <p:spPr>
          <a:xfrm>
            <a:off x="380990" y="2658449"/>
            <a:ext cx="2042069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9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Adopt dynamic pricing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80990" y="3337739"/>
            <a:ext cx="2042069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Tie pricing to occupancy and demand.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727852" y="220593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727852" y="2499320"/>
            <a:ext cx="2042069" cy="1905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10" name="Text 8"/>
          <p:cNvSpPr/>
          <p:nvPr/>
        </p:nvSpPr>
        <p:spPr>
          <a:xfrm>
            <a:off x="2727852" y="2658449"/>
            <a:ext cx="2042069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9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Raise weekend rates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27852" y="3337739"/>
            <a:ext cx="2042069" cy="565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Price into the strongest demand.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074714" y="220593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074714" y="2499320"/>
            <a:ext cx="2042069" cy="1905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714" y="2658449"/>
            <a:ext cx="2042168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9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Reduce cancellation leakage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074714" y="3612773"/>
            <a:ext cx="2042168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Review policies and reward confirmed bookings.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21674" y="220593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21674" y="2499320"/>
            <a:ext cx="2042069" cy="1905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18" name="Text 16"/>
          <p:cNvSpPr/>
          <p:nvPr/>
        </p:nvSpPr>
        <p:spPr>
          <a:xfrm>
            <a:off x="7421674" y="2658449"/>
            <a:ext cx="2042069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9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Replicate Exotica practices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21674" y="3337739"/>
            <a:ext cx="2042069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Scale the benchmark across underperforming properties.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68536" y="2205930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0A0B0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768536" y="2499320"/>
            <a:ext cx="2042069" cy="1905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22" name="Text 20"/>
          <p:cNvSpPr/>
          <p:nvPr/>
        </p:nvSpPr>
        <p:spPr>
          <a:xfrm>
            <a:off x="9768536" y="2658449"/>
            <a:ext cx="204216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900" dirty="0">
                <a:solidFill>
                  <a:srgbClr val="F3F5F7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Build property action plans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768536" y="3337739"/>
            <a:ext cx="2042168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Connect guest experience to channel performance.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80990" y="6535142"/>
            <a:ext cx="63885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5" dirty="0">
                <a:solidFill>
                  <a:srgbClr val="FFD40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60400"/>
            <a:ext cx="6349841" cy="5461000"/>
          </a:xfrm>
          <a:prstGeom prst="roundRect">
            <a:avLst>
              <a:gd name="adj" fmla="val 576"/>
            </a:avLst>
          </a:prstGeom>
          <a:solidFill>
            <a:srgbClr val="0A0B0D">
              <a:alpha val="8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041559"/>
            <a:ext cx="2287042" cy="262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THE NEXT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41374" y="1386690"/>
            <a:ext cx="5486263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FROM ANALYTICS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TO REVENUE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72" dirty="0">
                <a:solidFill>
                  <a:srgbClr val="F3F5F7"/>
                </a:solidFill>
                <a:latin typeface="Roboto Condensed ExtraBold" pitchFamily="34" charset="0"/>
                <a:ea typeface="Roboto Condensed ExtraBold" pitchFamily="34" charset="-122"/>
                <a:cs typeface="Roboto Condensed ExtraBold" pitchFamily="34" charset="0"/>
              </a:rPr>
              <a:t>RECOVERY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41374" y="5126930"/>
            <a:ext cx="5486263" cy="730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25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AtliQ Grands Performance Analytics</a:t>
            </a:r>
            <a:endParaRPr lang="en-US" sz="16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Tool used · </a:t>
            </a:r>
            <a:r>
              <a:rPr lang="en-US" sz="1650" dirty="0">
                <a:solidFill>
                  <a:schemeClr val="accent4">
                    <a:lumMod val="60000"/>
                    <a:lumOff val="4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Power BI</a:t>
            </a:r>
            <a:endParaRPr lang="en-US" sz="16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B734B-C8A9-0559-7916-8766715C29C1}"/>
              </a:ext>
            </a:extLst>
          </p:cNvPr>
          <p:cNvSpPr txBox="1"/>
          <p:nvPr/>
        </p:nvSpPr>
        <p:spPr>
          <a:xfrm>
            <a:off x="8305038" y="522606"/>
            <a:ext cx="2978658" cy="1130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</a:rPr>
              <a:t>Thank You to watch </a:t>
            </a:r>
            <a:r>
              <a:rPr lang="en-US" sz="3200" kern="100" spc="92" dirty="0">
                <a:solidFill>
                  <a:srgbClr val="FFD40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0"/>
                <a:sym typeface="Wingdings" panose="05000000000000000000" pitchFamily="2" charset="2"/>
              </a:rPr>
              <a:t>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B7D967-7DDC-A5C9-A095-16660FCA57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08"/>
          <a:stretch>
            <a:fillRect/>
          </a:stretch>
        </p:blipFill>
        <p:spPr>
          <a:xfrm>
            <a:off x="8128000" y="2635880"/>
            <a:ext cx="3878072" cy="1524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509</Words>
  <Application>Microsoft Office PowerPoint</Application>
  <PresentationFormat>Widescreen</PresentationFormat>
  <Paragraphs>132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Geist Mono</vt:lpstr>
      <vt:lpstr>Geist Mono Medium</vt:lpstr>
      <vt:lpstr>Roboto Condensed Bold</vt:lpstr>
      <vt:lpstr>IBM Plex Sans</vt:lpstr>
      <vt:lpstr>IBM Plex Sans Bold</vt:lpstr>
      <vt:lpstr>Geist Mono SemiBold</vt:lpstr>
      <vt:lpstr>IBM Plex Sans SemiBold</vt:lpstr>
      <vt:lpstr>Arial</vt:lpstr>
      <vt:lpstr>Roboto Condensed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Amaan Ali</cp:lastModifiedBy>
  <cp:revision>18</cp:revision>
  <dcterms:created xsi:type="dcterms:W3CDTF">2026-10-23T19:04:06Z</dcterms:created>
  <dcterms:modified xsi:type="dcterms:W3CDTF">2026-10-25T12:42:45Z</dcterms:modified>
</cp:coreProperties>
</file>